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Lst>
  <p:sldIdLst>
    <p:sldId id="256" r:id="rId5"/>
    <p:sldId id="257" r:id="rId6"/>
    <p:sldId id="258"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C890C8-55EF-7B30-F5B1-16172D3FB5D7}" v="19" dt="2025-10-03T13:18:01.2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Buckler" userId="S::matthew.buckler1@nscg.ac.uk::953fc02b-803a-4cb7-a403-c6dab60f448a" providerId="AD" clId="Web-{7BC890C8-55EF-7B30-F5B1-16172D3FB5D7}"/>
    <pc:docChg chg="modSld">
      <pc:chgData name="Matthew Buckler" userId="S::matthew.buckler1@nscg.ac.uk::953fc02b-803a-4cb7-a403-c6dab60f448a" providerId="AD" clId="Web-{7BC890C8-55EF-7B30-F5B1-16172D3FB5D7}" dt="2025-10-03T13:17:58.874" v="7" actId="20577"/>
      <pc:docMkLst>
        <pc:docMk/>
      </pc:docMkLst>
      <pc:sldChg chg="modSp">
        <pc:chgData name="Matthew Buckler" userId="S::matthew.buckler1@nscg.ac.uk::953fc02b-803a-4cb7-a403-c6dab60f448a" providerId="AD" clId="Web-{7BC890C8-55EF-7B30-F5B1-16172D3FB5D7}" dt="2025-10-03T13:17:58.874" v="7" actId="20577"/>
        <pc:sldMkLst>
          <pc:docMk/>
          <pc:sldMk cId="1044349876" sldId="256"/>
        </pc:sldMkLst>
        <pc:spChg chg="mod">
          <ac:chgData name="Matthew Buckler" userId="S::matthew.buckler1@nscg.ac.uk::953fc02b-803a-4cb7-a403-c6dab60f448a" providerId="AD" clId="Web-{7BC890C8-55EF-7B30-F5B1-16172D3FB5D7}" dt="2025-10-03T13:17:58.874" v="7" actId="20577"/>
          <ac:spMkLst>
            <pc:docMk/>
            <pc:sldMk cId="1044349876" sldId="256"/>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1100946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2669966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1101431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6DDC59-0A34-4A46-AFB9-87E9580E2C23}" type="datetimeFigureOut">
              <a:rPr lang="en-GB" smtClean="0"/>
              <a:t>03/10/2025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3828558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6DDC59-0A34-4A46-AFB9-87E9580E2C23}" type="datetimeFigureOut">
              <a:rPr lang="en-GB" smtClean="0"/>
              <a:t>03/10/2025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490914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6DDC59-0A34-4A46-AFB9-87E9580E2C23}" type="datetimeFigureOut">
              <a:rPr lang="en-GB" smtClean="0"/>
              <a:t>03/10/2025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1871738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DDC59-0A34-4A46-AFB9-87E9580E2C23}" type="datetimeFigureOut">
              <a:rPr lang="en-GB" smtClean="0"/>
              <a:t>03/10/2025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3920739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6DDC59-0A34-4A46-AFB9-87E9580E2C23}" type="datetimeFigureOut">
              <a:rPr lang="en-GB" smtClean="0"/>
              <a:t>03/10/2025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3878607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06728CB-159B-4555-AFD9-6A33FAED78C1}" type="slidenum">
              <a:rPr lang="en-GB" smtClean="0"/>
              <a:t>‹#›</a:t>
            </a:fld>
            <a:endParaRPr lang="en-GB"/>
          </a:p>
        </p:txBody>
      </p:sp>
      <p:sp>
        <p:nvSpPr>
          <p:cNvPr id="5" name="Date Placeholder 4"/>
          <p:cNvSpPr>
            <a:spLocks noGrp="1"/>
          </p:cNvSpPr>
          <p:nvPr>
            <p:ph type="dt" sz="half" idx="10"/>
          </p:nvPr>
        </p:nvSpPr>
        <p:spPr/>
        <p:txBody>
          <a:bodyPr/>
          <a:lstStyle/>
          <a:p>
            <a:fld id="{FA6DDC59-0A34-4A46-AFB9-87E9580E2C23}" type="datetimeFigureOut">
              <a:rPr lang="en-GB" smtClean="0"/>
              <a:t>03/10/2025</a:t>
            </a:fld>
            <a:endParaRPr lang="en-GB"/>
          </a:p>
        </p:txBody>
      </p:sp>
    </p:spTree>
    <p:extLst>
      <p:ext uri="{BB962C8B-B14F-4D97-AF65-F5344CB8AC3E}">
        <p14:creationId xmlns:p14="http://schemas.microsoft.com/office/powerpoint/2010/main" val="3542115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3358377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76733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3769240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49502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3788808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30796361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6DDC59-0A34-4A46-AFB9-87E9580E2C23}" type="datetimeFigureOut">
              <a:rPr lang="en-GB" smtClean="0"/>
              <a:t>03/10/2025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06728CB-159B-4555-AFD9-6A33FAED78C1}" type="slidenum">
              <a:rPr lang="en-GB" smtClean="0"/>
              <a:t>‹#›</a:t>
            </a:fld>
            <a:endParaRPr lang="en-GB"/>
          </a:p>
        </p:txBody>
      </p:sp>
    </p:spTree>
    <p:extLst>
      <p:ext uri="{BB962C8B-B14F-4D97-AF65-F5344CB8AC3E}">
        <p14:creationId xmlns:p14="http://schemas.microsoft.com/office/powerpoint/2010/main" val="300735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6DDC59-0A34-4A46-AFB9-87E9580E2C23}" type="datetimeFigureOut">
              <a:rPr lang="en-GB" smtClean="0"/>
              <a:t>03/10/2025</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06728CB-159B-4555-AFD9-6A33FAED78C1}" type="slidenum">
              <a:rPr lang="en-GB" smtClean="0"/>
              <a:t>‹#›</a:t>
            </a:fld>
            <a:endParaRPr lang="en-GB"/>
          </a:p>
        </p:txBody>
      </p:sp>
    </p:spTree>
    <p:extLst>
      <p:ext uri="{BB962C8B-B14F-4D97-AF65-F5344CB8AC3E}">
        <p14:creationId xmlns:p14="http://schemas.microsoft.com/office/powerpoint/2010/main" val="135286924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2138" y="241069"/>
            <a:ext cx="11272058" cy="5262979"/>
          </a:xfrm>
          <a:prstGeom prst="rect">
            <a:avLst/>
          </a:prstGeom>
          <a:noFill/>
        </p:spPr>
        <p:txBody>
          <a:bodyPr wrap="square" lIns="91440" tIns="45720" rIns="91440" bIns="45720" rtlCol="0" anchor="t">
            <a:spAutoFit/>
          </a:bodyPr>
          <a:lstStyle/>
          <a:p>
            <a:r>
              <a:rPr lang="en-GB" sz="1200" b="1" u="sng" dirty="0"/>
              <a:t>Client requirements for the Health Advisory Group</a:t>
            </a:r>
          </a:p>
          <a:p>
            <a:r>
              <a:rPr lang="en-GB" sz="1200" u="sng" dirty="0"/>
              <a:t>Functional Requirements</a:t>
            </a:r>
          </a:p>
          <a:p>
            <a:pPr marL="171450" indent="-171450">
              <a:buFont typeface="Arial" panose="020B0604020202020204" pitchFamily="34" charset="0"/>
              <a:buChar char="•"/>
            </a:pPr>
            <a:r>
              <a:rPr lang="en-GB" sz="1200" dirty="0"/>
              <a:t>Registration page for booking risk assessments and the personal health tracking tool</a:t>
            </a:r>
          </a:p>
          <a:p>
            <a:pPr marL="171450" indent="-171450">
              <a:buFont typeface="Arial" panose="020B0604020202020204" pitchFamily="34" charset="0"/>
              <a:buChar char="•"/>
            </a:pPr>
            <a:r>
              <a:rPr lang="en-GB" sz="1200" dirty="0"/>
              <a:t>Register page must check for existing accounts with that email so no duplicate accounts can be created</a:t>
            </a:r>
          </a:p>
          <a:p>
            <a:pPr marL="171450" indent="-171450">
              <a:buFont typeface="Arial" panose="020B0604020202020204" pitchFamily="34" charset="0"/>
              <a:buChar char="•"/>
            </a:pPr>
            <a:r>
              <a:rPr lang="en-GB" sz="1200" dirty="0"/>
              <a:t>Login page for people to log into their accounts and it must check that the account actually exists and that the details are correct</a:t>
            </a:r>
          </a:p>
          <a:p>
            <a:pPr marL="171450" indent="-171450">
              <a:buFont typeface="Arial" panose="020B0604020202020204" pitchFamily="34" charset="0"/>
              <a:buChar char="•"/>
            </a:pPr>
            <a:r>
              <a:rPr lang="en-GB" sz="1200" dirty="0"/>
              <a:t>Weather forecasting page for informing health decisions </a:t>
            </a:r>
          </a:p>
          <a:p>
            <a:pPr marL="171450" indent="-171450">
              <a:buFont typeface="Arial" panose="020B0604020202020204" pitchFamily="34" charset="0"/>
              <a:buChar char="•"/>
            </a:pPr>
            <a:r>
              <a:rPr lang="en-GB" sz="1200" dirty="0"/>
              <a:t>Connects to a weather forecasting API so they can get up-to-date information on the weather</a:t>
            </a:r>
          </a:p>
          <a:p>
            <a:pPr marL="171450" indent="-171450">
              <a:buFont typeface="Arial" panose="020B0604020202020204" pitchFamily="34" charset="0"/>
              <a:buChar char="•"/>
            </a:pPr>
            <a:r>
              <a:rPr lang="en-GB" sz="1200" dirty="0"/>
              <a:t>Custom advice based on the weather</a:t>
            </a:r>
          </a:p>
          <a:p>
            <a:pPr marL="171450" indent="-171450">
              <a:buFont typeface="Arial" panose="020B0604020202020204" pitchFamily="34" charset="0"/>
              <a:buChar char="•"/>
            </a:pPr>
            <a:r>
              <a:rPr lang="en-GB" sz="1200" dirty="0"/>
              <a:t>Policy page in order to explain what rules/guidelines the website follows</a:t>
            </a:r>
          </a:p>
          <a:p>
            <a:pPr marL="171450" indent="-171450">
              <a:buFont typeface="Arial" panose="020B0604020202020204" pitchFamily="34" charset="0"/>
              <a:buChar char="•"/>
            </a:pPr>
            <a:r>
              <a:rPr lang="en-GB" sz="1200" dirty="0"/>
              <a:t>Booking page for home risk assessments</a:t>
            </a:r>
          </a:p>
          <a:p>
            <a:pPr marL="171450" indent="-171450">
              <a:buFont typeface="Arial" panose="020B0604020202020204" pitchFamily="34" charset="0"/>
              <a:buChar char="•"/>
            </a:pPr>
            <a:r>
              <a:rPr lang="en-GB" sz="1200" dirty="0"/>
              <a:t>Terms and conditions in order to outline the rules, rights and responsibilities </a:t>
            </a:r>
          </a:p>
          <a:p>
            <a:pPr marL="171450" indent="-171450">
              <a:buFont typeface="Arial" panose="020B0604020202020204" pitchFamily="34" charset="0"/>
              <a:buChar char="•"/>
            </a:pPr>
            <a:r>
              <a:rPr lang="en-GB" sz="1200" dirty="0"/>
              <a:t>Dashboard for monitoring air quality data </a:t>
            </a:r>
          </a:p>
          <a:p>
            <a:pPr marL="171450" indent="-171450">
              <a:buFont typeface="Arial" panose="020B0604020202020204" pitchFamily="34" charset="0"/>
              <a:buChar char="•"/>
            </a:pPr>
            <a:r>
              <a:rPr lang="en-GB" sz="1200" dirty="0"/>
              <a:t>Page for advice about how to deal with health matters affected by the weather</a:t>
            </a:r>
          </a:p>
          <a:p>
            <a:pPr marL="171450" indent="-171450">
              <a:buFont typeface="Arial" panose="020B0604020202020204" pitchFamily="34" charset="0"/>
              <a:buChar char="•"/>
            </a:pPr>
            <a:r>
              <a:rPr lang="en-GB" sz="1200" dirty="0"/>
              <a:t>Admin account with specific permissions and already need to be created</a:t>
            </a:r>
          </a:p>
          <a:p>
            <a:pPr marL="171450" indent="-171450">
              <a:buFont typeface="Arial" panose="020B0604020202020204" pitchFamily="34" charset="0"/>
              <a:buChar char="•"/>
            </a:pPr>
            <a:r>
              <a:rPr lang="en-GB" sz="1200" dirty="0"/>
              <a:t>Admin portal to be able to update information on the site, manage users etc.</a:t>
            </a:r>
          </a:p>
          <a:p>
            <a:pPr marL="171450" indent="-171450">
              <a:buFont typeface="Arial" panose="020B0604020202020204" pitchFamily="34" charset="0"/>
              <a:buChar char="•"/>
            </a:pPr>
            <a:r>
              <a:rPr lang="en-GB" sz="1200" dirty="0"/>
              <a:t>A personal health tracking tool on the software for users to track things like heart rate/sleep times</a:t>
            </a:r>
          </a:p>
          <a:p>
            <a:pPr marL="171450" indent="-171450">
              <a:buFont typeface="Arial" panose="020B0604020202020204" pitchFamily="34" charset="0"/>
              <a:buChar char="•"/>
            </a:pPr>
            <a:r>
              <a:rPr lang="en-GB" sz="1200" dirty="0"/>
              <a:t>Personalised health advice page (functional as even though it isn’t needed, it does still output)</a:t>
            </a:r>
          </a:p>
          <a:p>
            <a:pPr marL="171450" indent="-171450">
              <a:buFont typeface="Arial" panose="020B0604020202020204" pitchFamily="34" charset="0"/>
              <a:buChar char="•"/>
            </a:pPr>
            <a:r>
              <a:rPr lang="en-GB" sz="1200" dirty="0"/>
              <a:t>Get location information from browser for the personalised health advice page (functional as it outputs your location and may need to process it)</a:t>
            </a:r>
          </a:p>
          <a:p>
            <a:pPr marL="171450" indent="-171450">
              <a:buFont typeface="Arial" panose="020B0604020202020204" pitchFamily="34" charset="0"/>
              <a:buChar char="•"/>
            </a:pPr>
            <a:r>
              <a:rPr lang="en-GB" sz="1200" dirty="0"/>
              <a:t>About us page that tells users what they actually do</a:t>
            </a:r>
          </a:p>
          <a:p>
            <a:r>
              <a:rPr lang="en-GB" sz="1200" u="sng" dirty="0"/>
              <a:t>Non-Functional Requirements</a:t>
            </a:r>
          </a:p>
          <a:p>
            <a:pPr marL="171450" indent="-171450">
              <a:buFont typeface="Arial" panose="020B0604020202020204" pitchFamily="34" charset="0"/>
              <a:buChar char="•"/>
            </a:pPr>
            <a:r>
              <a:rPr lang="en-GB" sz="1200" dirty="0"/>
              <a:t>Have nice styling/easy to read text for usability</a:t>
            </a:r>
          </a:p>
          <a:p>
            <a:pPr marL="171450" indent="-171450">
              <a:buFont typeface="Arial" panose="020B0604020202020204" pitchFamily="34" charset="0"/>
              <a:buChar char="•"/>
            </a:pPr>
            <a:r>
              <a:rPr lang="en-GB" sz="1200" dirty="0"/>
              <a:t>Accessibility settings to follow WCAG</a:t>
            </a:r>
          </a:p>
          <a:p>
            <a:pPr marL="171450" indent="-171450">
              <a:buFont typeface="Arial" panose="020B0604020202020204" pitchFamily="34" charset="0"/>
              <a:buChar char="•"/>
            </a:pPr>
            <a:r>
              <a:rPr lang="en-GB" sz="1200" dirty="0"/>
              <a:t>Secure login/register forms to follow GDPR</a:t>
            </a:r>
          </a:p>
          <a:p>
            <a:pPr marL="171450" indent="-171450">
              <a:buFont typeface="Arial" panose="020B0604020202020204" pitchFamily="34" charset="0"/>
              <a:buChar char="•"/>
            </a:pPr>
            <a:r>
              <a:rPr lang="en-GB" sz="1200" dirty="0"/>
              <a:t>Good error messages for any errors that occur so users can easily fix them</a:t>
            </a:r>
          </a:p>
          <a:p>
            <a:pPr marL="171450" indent="-171450">
              <a:buFont typeface="Arial" panose="020B0604020202020204" pitchFamily="34" charset="0"/>
              <a:buChar char="•"/>
            </a:pPr>
            <a:r>
              <a:rPr lang="en-GB" sz="1200" dirty="0"/>
              <a:t>Different permissions for the type of accounts so admins can moderate the site without users having access to it</a:t>
            </a:r>
          </a:p>
          <a:p>
            <a:pPr marL="171450" indent="-171450">
              <a:buFont typeface="Arial" panose="020B0604020202020204" pitchFamily="34" charset="0"/>
              <a:buChar char="•"/>
            </a:pPr>
            <a:r>
              <a:rPr lang="en-GB" sz="1200" dirty="0"/>
              <a:t>Ensure they follow GDPR and other legislation so they don’t get fined/any consequences</a:t>
            </a:r>
          </a:p>
          <a:p>
            <a:pPr marL="171450" indent="-171450">
              <a:buFont typeface="Arial" panose="020B0604020202020204" pitchFamily="34" charset="0"/>
              <a:buChar char="•"/>
            </a:pPr>
            <a:r>
              <a:rPr lang="en-GB" sz="1200" dirty="0"/>
              <a:t>Up-to-date policies and terms and conditions so they follow guidelines</a:t>
            </a:r>
          </a:p>
        </p:txBody>
      </p:sp>
    </p:spTree>
    <p:extLst>
      <p:ext uri="{BB962C8B-B14F-4D97-AF65-F5344CB8AC3E}">
        <p14:creationId xmlns:p14="http://schemas.microsoft.com/office/powerpoint/2010/main" val="1044349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2138" y="241069"/>
            <a:ext cx="11272058" cy="5262979"/>
          </a:xfrm>
          <a:prstGeom prst="rect">
            <a:avLst/>
          </a:prstGeom>
          <a:noFill/>
        </p:spPr>
        <p:txBody>
          <a:bodyPr wrap="square" rtlCol="0">
            <a:spAutoFit/>
          </a:bodyPr>
          <a:lstStyle/>
          <a:p>
            <a:r>
              <a:rPr lang="en-GB" sz="1200" b="1" u="sng" dirty="0"/>
              <a:t>Risks of not completing the project</a:t>
            </a:r>
          </a:p>
          <a:p>
            <a:pPr marL="171450" indent="-171450">
              <a:buFont typeface="Arial" panose="020B0604020202020204" pitchFamily="34" charset="0"/>
              <a:buChar char="•"/>
            </a:pPr>
            <a:r>
              <a:rPr lang="en-GB" sz="1200" dirty="0"/>
              <a:t>Loss of money</a:t>
            </a:r>
          </a:p>
          <a:p>
            <a:pPr marL="171450" indent="-171450">
              <a:buFont typeface="Arial" panose="020B0604020202020204" pitchFamily="34" charset="0"/>
              <a:buChar char="•"/>
            </a:pPr>
            <a:r>
              <a:rPr lang="en-GB" sz="1200" dirty="0"/>
              <a:t>Loss of time</a:t>
            </a:r>
          </a:p>
          <a:p>
            <a:pPr marL="171450" indent="-171450">
              <a:buFont typeface="Arial" panose="020B0604020202020204" pitchFamily="34" charset="0"/>
              <a:buChar char="•"/>
            </a:pPr>
            <a:r>
              <a:rPr lang="en-GB" sz="1200" dirty="0"/>
              <a:t>Waste of code</a:t>
            </a:r>
          </a:p>
          <a:p>
            <a:pPr marL="171450" indent="-171450">
              <a:buFont typeface="Arial" panose="020B0604020202020204" pitchFamily="34" charset="0"/>
              <a:buChar char="•"/>
            </a:pPr>
            <a:r>
              <a:rPr lang="en-GB" sz="1200" dirty="0"/>
              <a:t>Unhappy customers</a:t>
            </a:r>
          </a:p>
          <a:p>
            <a:pPr marL="171450" indent="-171450">
              <a:buFont typeface="Arial" panose="020B0604020202020204" pitchFamily="34" charset="0"/>
              <a:buChar char="•"/>
            </a:pPr>
            <a:r>
              <a:rPr lang="en-GB" sz="1200" dirty="0"/>
              <a:t>Employees could lose jobs if they were hired ready in advance</a:t>
            </a:r>
          </a:p>
          <a:p>
            <a:pPr marL="171450" indent="-171450">
              <a:buFont typeface="Arial" panose="020B0604020202020204" pitchFamily="34" charset="0"/>
              <a:buChar char="•"/>
            </a:pPr>
            <a:endParaRPr lang="en-GB" sz="1200" dirty="0"/>
          </a:p>
          <a:p>
            <a:r>
              <a:rPr lang="en-GB" sz="1200" b="1" u="sng" dirty="0"/>
              <a:t>Comments on hardware and software required for the project</a:t>
            </a:r>
          </a:p>
          <a:p>
            <a:r>
              <a:rPr lang="en-GB" sz="1200" u="sng" dirty="0"/>
              <a:t>Hardware</a:t>
            </a:r>
          </a:p>
          <a:p>
            <a:pPr marL="171450" indent="-171450">
              <a:buFont typeface="Arial" panose="020B0604020202020204" pitchFamily="34" charset="0"/>
              <a:buChar char="•"/>
            </a:pPr>
            <a:r>
              <a:rPr lang="en-GB" sz="1200" dirty="0"/>
              <a:t>Good pcs</a:t>
            </a:r>
          </a:p>
          <a:p>
            <a:pPr marL="171450" indent="-171450">
              <a:buFont typeface="Arial" panose="020B0604020202020204" pitchFamily="34" charset="0"/>
              <a:buChar char="•"/>
            </a:pPr>
            <a:r>
              <a:rPr lang="en-GB" sz="1200" dirty="0"/>
              <a:t>Mobile</a:t>
            </a:r>
          </a:p>
          <a:p>
            <a:r>
              <a:rPr lang="en-GB" sz="1200" u="sng" dirty="0"/>
              <a:t>Software</a:t>
            </a:r>
          </a:p>
          <a:p>
            <a:pPr marL="171450" indent="-171450">
              <a:buFont typeface="Arial" panose="020B0604020202020204" pitchFamily="34" charset="0"/>
              <a:buChar char="•"/>
            </a:pPr>
            <a:r>
              <a:rPr lang="en-GB" sz="1200" dirty="0"/>
              <a:t>Visual Studio Code </a:t>
            </a:r>
          </a:p>
          <a:p>
            <a:pPr marL="171450" indent="-171450">
              <a:buFont typeface="Arial" panose="020B0604020202020204" pitchFamily="34" charset="0"/>
              <a:buChar char="•"/>
            </a:pPr>
            <a:r>
              <a:rPr lang="en-GB" sz="1200" dirty="0"/>
              <a:t>Programming languages</a:t>
            </a:r>
          </a:p>
          <a:p>
            <a:pPr marL="171450" indent="-171450">
              <a:buFont typeface="Arial" panose="020B0604020202020204" pitchFamily="34" charset="0"/>
              <a:buChar char="•"/>
            </a:pPr>
            <a:r>
              <a:rPr lang="en-GB" sz="1200" dirty="0" err="1"/>
              <a:t>Canva</a:t>
            </a:r>
            <a:endParaRPr lang="en-GB" sz="1200" dirty="0"/>
          </a:p>
          <a:p>
            <a:pPr marL="171450" indent="-171450">
              <a:buFont typeface="Arial" panose="020B0604020202020204" pitchFamily="34" charset="0"/>
              <a:buChar char="•"/>
            </a:pPr>
            <a:endParaRPr lang="en-GB" sz="1200" dirty="0"/>
          </a:p>
          <a:p>
            <a:r>
              <a:rPr lang="en-GB" sz="1200" b="1" u="sng" dirty="0"/>
              <a:t>Can emerging technologies be used in the project?</a:t>
            </a:r>
          </a:p>
          <a:p>
            <a:pPr marL="171450" indent="-171450">
              <a:buFont typeface="Arial" panose="020B0604020202020204" pitchFamily="34" charset="0"/>
              <a:buChar char="•"/>
            </a:pPr>
            <a:r>
              <a:rPr lang="en-GB" sz="1200" dirty="0" err="1"/>
              <a:t>IoT</a:t>
            </a:r>
            <a:r>
              <a:rPr lang="en-GB" sz="1200" dirty="0"/>
              <a:t>: This relates to the HAG as users may be wearing devices such as smart health tracking watches which may connect to the software in order to be able to track user’s fitness levels. The devices will share the data they collect on the user with the website/software which will then give specific advice tailored to the user based on what data the is.</a:t>
            </a:r>
          </a:p>
          <a:p>
            <a:pPr marL="171450" indent="-171450">
              <a:buFont typeface="Arial" panose="020B0604020202020204" pitchFamily="34" charset="0"/>
              <a:buChar char="•"/>
            </a:pPr>
            <a:r>
              <a:rPr lang="en-GB" sz="1200" dirty="0"/>
              <a:t>AI: This relates to the HAG as they may use it for things like an AI assistant on the website or help collect and summarise data on Key Performance Indicators to make it easier for them to improve experiences and monitor how users are using the website. The AI assistant may help users navigate the website or give them advice. They could also use AI for fast and accurate weather forecasting.</a:t>
            </a:r>
          </a:p>
          <a:p>
            <a:pPr marL="171450" indent="-171450">
              <a:buFont typeface="Arial" panose="020B0604020202020204" pitchFamily="34" charset="0"/>
              <a:buChar char="•"/>
            </a:pPr>
            <a:r>
              <a:rPr lang="en-GB" sz="1200" dirty="0"/>
              <a:t>Biometrics: They may use biometrics for user logins as they are a very secure way of blocking unauthorised access into an account. It also could make it easier to log in as they don’t need to remember a password and can just use something like their fingerprint</a:t>
            </a:r>
          </a:p>
          <a:p>
            <a:pPr marL="171450" indent="-171450">
              <a:buFont typeface="Arial" panose="020B0604020202020204" pitchFamily="34" charset="0"/>
              <a:buChar char="•"/>
            </a:pPr>
            <a:r>
              <a:rPr lang="en-GB" sz="1200" dirty="0"/>
              <a:t>Developments in communications networks (e.g. 5G) allow for users to be able to access the website from more locations than in the past.</a:t>
            </a:r>
          </a:p>
          <a:p>
            <a:pPr marL="171450" indent="-171450">
              <a:buFont typeface="Arial" panose="020B0604020202020204" pitchFamily="34" charset="0"/>
              <a:buChar char="•"/>
            </a:pPr>
            <a:endParaRPr lang="en-GB" sz="1200" dirty="0"/>
          </a:p>
          <a:p>
            <a:endParaRPr lang="en-GB" sz="1200" b="1" u="sng" dirty="0"/>
          </a:p>
        </p:txBody>
      </p:sp>
    </p:spTree>
    <p:extLst>
      <p:ext uri="{BB962C8B-B14F-4D97-AF65-F5344CB8AC3E}">
        <p14:creationId xmlns:p14="http://schemas.microsoft.com/office/powerpoint/2010/main" val="2258698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2138" y="241069"/>
            <a:ext cx="11272058" cy="2677656"/>
          </a:xfrm>
          <a:prstGeom prst="rect">
            <a:avLst/>
          </a:prstGeom>
          <a:noFill/>
        </p:spPr>
        <p:txBody>
          <a:bodyPr wrap="square" rtlCol="0">
            <a:spAutoFit/>
          </a:bodyPr>
          <a:lstStyle/>
          <a:p>
            <a:r>
              <a:rPr lang="en-GB" sz="1200" b="1" u="sng" dirty="0"/>
              <a:t>How does legislation and regulations affect the project and development of the software</a:t>
            </a:r>
          </a:p>
          <a:p>
            <a:r>
              <a:rPr lang="en-GB" sz="1200" b="1" dirty="0"/>
              <a:t>Intellectual Property Act</a:t>
            </a:r>
          </a:p>
          <a:p>
            <a:r>
              <a:rPr lang="en-GB" sz="1200" dirty="0"/>
              <a:t>You would need to make sure that any information or images used aren’t copyrighted and if they are, you may need to ask for permission from the owner of the information/images. </a:t>
            </a:r>
          </a:p>
          <a:p>
            <a:r>
              <a:rPr lang="en-GB" sz="1200" b="1" dirty="0"/>
              <a:t>GDPR</a:t>
            </a:r>
          </a:p>
          <a:p>
            <a:r>
              <a:rPr lang="en-GB" sz="1200" dirty="0"/>
              <a:t>Ensure any data stored is secure, is needed by the company and the data isn’t unnecessary.</a:t>
            </a:r>
          </a:p>
          <a:p>
            <a:r>
              <a:rPr lang="en-GB" sz="1200" b="1" dirty="0"/>
              <a:t>Computer Misuse Act</a:t>
            </a:r>
          </a:p>
          <a:p>
            <a:r>
              <a:rPr lang="en-GB" sz="1200" dirty="0"/>
              <a:t>Having passwords to stop unauthorised access to a system</a:t>
            </a:r>
          </a:p>
          <a:p>
            <a:r>
              <a:rPr lang="en-GB" sz="1200" b="1" dirty="0"/>
              <a:t>Equality Act</a:t>
            </a:r>
          </a:p>
          <a:p>
            <a:r>
              <a:rPr lang="en-GB" sz="1200" dirty="0"/>
              <a:t>Fair/equal access to the system</a:t>
            </a:r>
          </a:p>
          <a:p>
            <a:r>
              <a:rPr lang="en-GB" sz="1200" b="1" dirty="0"/>
              <a:t>Health and Safety</a:t>
            </a:r>
          </a:p>
          <a:p>
            <a:r>
              <a:rPr lang="en-GB" sz="1200" dirty="0"/>
              <a:t>Considerations for health when developing the solution</a:t>
            </a:r>
          </a:p>
          <a:p>
            <a:pPr marL="171450" indent="-171450">
              <a:buFont typeface="Arial" panose="020B0604020202020204" pitchFamily="34" charset="0"/>
              <a:buChar char="•"/>
            </a:pPr>
            <a:endParaRPr lang="en-GB" sz="1200" dirty="0"/>
          </a:p>
          <a:p>
            <a:endParaRPr lang="en-GB" sz="1200" b="1" u="sng" dirty="0"/>
          </a:p>
        </p:txBody>
      </p:sp>
    </p:spTree>
    <p:extLst>
      <p:ext uri="{BB962C8B-B14F-4D97-AF65-F5344CB8AC3E}">
        <p14:creationId xmlns:p14="http://schemas.microsoft.com/office/powerpoint/2010/main" val="134664926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8CA2755BABF5F4CAB316F2F019A6169" ma:contentTypeVersion="3" ma:contentTypeDescription="Create a new document." ma:contentTypeScope="" ma:versionID="f7aacaad3034107da8c7500487c6d067">
  <xsd:schema xmlns:xsd="http://www.w3.org/2001/XMLSchema" xmlns:xs="http://www.w3.org/2001/XMLSchema" xmlns:p="http://schemas.microsoft.com/office/2006/metadata/properties" xmlns:ns2="f609fdc9-41b0-46b6-99a4-9ec6d4a462b6" targetNamespace="http://schemas.microsoft.com/office/2006/metadata/properties" ma:root="true" ma:fieldsID="826d04ff833b9d77485c4cf746f37717" ns2:_="">
    <xsd:import namespace="f609fdc9-41b0-46b6-99a4-9ec6d4a462b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09fdc9-41b0-46b6-99a4-9ec6d4a462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574620-DAD6-451F-8BC0-D21A792E59A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B9EDFDD-4A46-48F7-BC55-340442C9C0AE}">
  <ds:schemaRefs>
    <ds:schemaRef ds:uri="http://schemas.microsoft.com/sharepoint/v3/contenttype/forms"/>
  </ds:schemaRefs>
</ds:datastoreItem>
</file>

<file path=customXml/itemProps3.xml><?xml version="1.0" encoding="utf-8"?>
<ds:datastoreItem xmlns:ds="http://schemas.openxmlformats.org/officeDocument/2006/customXml" ds:itemID="{29263BCF-463F-49A9-9197-4BD7559D32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09fdc9-41b0-46b6-99a4-9ec6d4a462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168</TotalTime>
  <Words>686</Words>
  <Application>Microsoft Office PowerPoint</Application>
  <PresentationFormat>Widescreen</PresentationFormat>
  <Paragraphs>59</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Facet</vt:lpstr>
      <vt:lpstr>PowerPoint Presentation</vt:lpstr>
      <vt:lpstr>PowerPoint Presentation</vt:lpstr>
      <vt:lpstr>PowerPoint Presentation</vt:lpstr>
    </vt:vector>
  </TitlesOfParts>
  <Company>Newcastle and Stafford Colleges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Jayden Austin</dc:creator>
  <cp:lastModifiedBy>Jayden Austin</cp:lastModifiedBy>
  <cp:revision>35</cp:revision>
  <dcterms:created xsi:type="dcterms:W3CDTF">2025-10-03T09:18:29Z</dcterms:created>
  <dcterms:modified xsi:type="dcterms:W3CDTF">2025-10-03T13:18:05Z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0x01010038CA2755BABF5F4CAB316F2F019A6169</vt:lpwstr>
  </property>
</Properties>
</file>